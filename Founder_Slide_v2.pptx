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this team has already done the hardest parts of Bridge Nurse: recruiting and deploying a workforce at scale (21,000+ between Sutanu and Rahul), opening healthcare corridors abroad (Sutanu, RG Medicare: Bangladesh and Oman), and running Big 4-grade finance and governance (Vaibhav). Nurse education is the gap, which is why it leads the hiring plan.
Founder roles and backgrounds as represented by management. Founder names link to their professional profiles.
Sutanu Dutta (19 years; ex-Truxapp, Rivigo, HT Media, Peel Works; 1x founder) and Rahul Luthra (9 years; ex-Swiggy; 2x founder) are full-time. Vaibhav Kedia joins full-time at close and is a Director at EY until then. Senior technology / AI, nurse-education and operations candidates are in discussion. No offers have been accepted.
Sources: each founder's résumé or professional profile, supplied by the founder. Not independently verified. Sutanu's rupee figures at ₹95/$: staffing revenue ₹20 Cr to ₹106 Cr ($2M to $11M, 5.3×); ₹150 Cr of contracted value ($16M); ₹240 Cr distribution P&amp;L ($25M). Vaibhav's 19 years at EY include 3 years as an intern; clients include Amazon, Airtel, ITC, Siemens, Intel, Epson and Happiest Minds. Rahul's 10,000+ onboarding and 98.6% serviceability are from his Swiggy role (2019–2023).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linkedin.com/in/sutanu-dutta-7a8890a/" TargetMode="External"/><Relationship Id="rId4" Type="http://schemas.openxmlformats.org/officeDocument/2006/relationships/hyperlink" Target="https://www.linkedin.com/in/vaibhavkedia/" TargetMode="External"/><Relationship Id="rId6" Type="http://schemas.openxmlformats.org/officeDocument/2006/relationships/hyperlink" Target="https://www.linkedin.com/in/rahulluthraaa/" TargetMode="External"/><Relationship Id="rId1" Type="http://schemas.openxmlformats.org/officeDocument/2006/relationships/image" Target="../media/image-1-1.jpeg"/><Relationship Id="rId3" Type="http://schemas.openxmlformats.org/officeDocument/2006/relationships/image" Target="../media/image-1-2.jpeg"/><Relationship Id="rId5" Type="http://schemas.openxmlformats.org/officeDocument/2006/relationships/image" Target="../media/image-1-3.jpeg"/><Relationship Id="rId7"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C36"/>
        </a:solidFill>
      </p:bgPr>
    </p:bg>
    <p:spTree>
      <p:nvGrpSpPr>
        <p:cNvPr id="1" name=""/>
        <p:cNvGrpSpPr/>
        <p:nvPr/>
      </p:nvGrpSpPr>
      <p:grpSpPr>
        <a:xfrm>
          <a:off x="0" y="0"/>
          <a:ext cx="0" cy="0"/>
          <a:chOff x="0" y="0"/>
          <a:chExt cx="0" cy="0"/>
        </a:xfrm>
      </p:grpSpPr>
      <p:sp>
        <p:nvSpPr>
          <p:cNvPr id="2" name="Text 0"/>
          <p:cNvSpPr txBox="1"/>
          <p:nvPr/>
        </p:nvSpPr>
        <p:spPr>
          <a:xfrm>
            <a:off x="457200" y="347472"/>
            <a:ext cx="7315200" cy="228600"/>
          </a:xfrm>
          <a:prstGeom prst="rect">
            <a:avLst/>
          </a:prstGeom>
          <a:noFill/>
          <a:ln/>
        </p:spPr>
        <p:txBody>
          <a:bodyPr wrap="square" lIns="0" tIns="0" rIns="0" bIns="0" rtlCol="0" anchor="t"/>
          <a:lstStyle/>
          <a:p>
            <a:pPr indent="0" marL="0">
              <a:buNone/>
            </a:pPr>
            <a:r>
              <a:rPr lang="en-US" sz="1100" b="1" spc="400" kern="0" dirty="0">
                <a:solidFill>
                  <a:srgbClr val="E07A3F"/>
                </a:solidFill>
                <a:latin typeface="Calibri" pitchFamily="34" charset="0"/>
                <a:ea typeface="Calibri" pitchFamily="34" charset="-122"/>
                <a:cs typeface="Calibri" pitchFamily="34" charset="-120"/>
              </a:rPr>
              <a:t>WHY THIS TEAM WINS AT BRIDGE NURSE</a:t>
            </a:r>
            <a:endParaRPr lang="en-US" sz="1100" dirty="0"/>
          </a:p>
        </p:txBody>
      </p:sp>
      <p:sp>
        <p:nvSpPr>
          <p:cNvPr id="3" name="Text 1"/>
          <p:cNvSpPr txBox="1"/>
          <p:nvPr/>
        </p:nvSpPr>
        <p:spPr>
          <a:xfrm>
            <a:off x="457200" y="603504"/>
            <a:ext cx="11247120" cy="548640"/>
          </a:xfrm>
          <a:prstGeom prst="rect">
            <a:avLst/>
          </a:prstGeom>
          <a:noFill/>
          <a:ln/>
        </p:spPr>
        <p:txBody>
          <a:bodyPr wrap="square" lIns="0" tIns="0" rIns="0" bIns="0" rtlCol="0" anchor="t"/>
          <a:lstStyle/>
          <a:p>
            <a:pPr indent="0" marL="0">
              <a:buNone/>
            </a:pPr>
            <a:r>
              <a:rPr lang="en-US" sz="3000" dirty="0">
                <a:solidFill>
                  <a:srgbClr val="2EC4B0"/>
                </a:solidFill>
                <a:latin typeface="Georgia" pitchFamily="34" charset="0"/>
                <a:ea typeface="Georgia" pitchFamily="34" charset="-122"/>
                <a:cs typeface="Georgia" pitchFamily="34" charset="-120"/>
              </a:rPr>
              <a:t>We have already done</a:t>
            </a:r>
            <a:pPr indent="0" marL="0">
              <a:buNone/>
            </a:pPr>
            <a:r>
              <a:rPr lang="en-US" sz="3000" dirty="0">
                <a:solidFill>
                  <a:srgbClr val="FFFFFF"/>
                </a:solidFill>
                <a:latin typeface="Georgia" pitchFamily="34" charset="0"/>
                <a:ea typeface="Georgia" pitchFamily="34" charset="-122"/>
                <a:cs typeface="Georgia" pitchFamily="34" charset="-120"/>
              </a:rPr>
              <a:t> the hardest parts of Bridge Nurse</a:t>
            </a:r>
            <a:endParaRPr lang="en-US" sz="3000" dirty="0"/>
          </a:p>
        </p:txBody>
      </p:sp>
      <p:sp>
        <p:nvSpPr>
          <p:cNvPr id="4" name="Text 2"/>
          <p:cNvSpPr txBox="1"/>
          <p:nvPr/>
        </p:nvSpPr>
        <p:spPr>
          <a:xfrm>
            <a:off x="457200" y="1188720"/>
            <a:ext cx="11247120" cy="274320"/>
          </a:xfrm>
          <a:prstGeom prst="rect">
            <a:avLst/>
          </a:prstGeom>
          <a:noFill/>
          <a:ln/>
        </p:spPr>
        <p:txBody>
          <a:bodyPr wrap="square" lIns="0" tIns="0" rIns="0" bIns="0" rtlCol="0" anchor="t"/>
          <a:lstStyle/>
          <a:p>
            <a:pPr indent="0" marL="0">
              <a:buNone/>
            </a:pPr>
            <a:r>
              <a:rPr lang="en-US" sz="1400" dirty="0">
                <a:solidFill>
                  <a:srgbClr val="B9C7DD"/>
                </a:solidFill>
                <a:latin typeface="Calibri" pitchFamily="34" charset="0"/>
                <a:ea typeface="Calibri" pitchFamily="34" charset="-122"/>
                <a:cs typeface="Calibri" pitchFamily="34" charset="-120"/>
              </a:rPr>
              <a:t>21,000+ workers recruited and deployed. Healthcare corridors opened abroad. Fortune Top 10 audits led. Now we do it for nurses.</a:t>
            </a:r>
            <a:endParaRPr lang="en-US" sz="1400" dirty="0"/>
          </a:p>
        </p:txBody>
      </p:sp>
      <p:sp>
        <p:nvSpPr>
          <p:cNvPr id="5" name="Sutanu Dutta card"/>
          <p:cNvSpPr/>
          <p:nvPr/>
        </p:nvSpPr>
        <p:spPr>
          <a:xfrm>
            <a:off x="457200" y="1691640"/>
            <a:ext cx="3639312" cy="4407408"/>
          </a:xfrm>
          <a:prstGeom prst="roundRect">
            <a:avLst>
              <a:gd name="adj" fmla="val 3015"/>
            </a:avLst>
          </a:prstGeom>
          <a:solidFill>
            <a:srgbClr val="13294B"/>
          </a:solidFill>
          <a:ln w="9525">
            <a:solidFill>
              <a:srgbClr val="1F3A62"/>
            </a:solidFill>
            <a:prstDash val="solid"/>
          </a:ln>
          <a:effectLst>
            <a:outerShdw sx="100000" sy="100000" kx="0" ky="0" algn="bl" rotWithShape="0" blurRad="127000" dist="38100" dir="5400000">
              <a:srgbClr val="000000">
                <a:alpha val="35000"/>
              </a:srgbClr>
            </a:outerShdw>
          </a:effectLst>
        </p:spPr>
      </p:sp>
      <p:sp>
        <p:nvSpPr>
          <p:cNvPr id="6" name="Shape 4"/>
          <p:cNvSpPr/>
          <p:nvPr/>
        </p:nvSpPr>
        <p:spPr>
          <a:xfrm>
            <a:off x="640080" y="1874520"/>
            <a:ext cx="1005840" cy="1005840"/>
          </a:xfrm>
          <a:prstGeom prst="ellipse">
            <a:avLst/>
          </a:prstGeom>
          <a:solidFill>
            <a:srgbClr val="2EC4B0"/>
          </a:solidFill>
          <a:ln w="12700">
            <a:solidFill>
              <a:srgbClr val="2EC4B0"/>
            </a:solidFill>
            <a:prstDash val="solid"/>
          </a:ln>
        </p:spPr>
      </p:sp>
      <p:pic>
        <p:nvPicPr>
          <p:cNvPr id="7" name="Image 0" descr="Photo of Sutanu Dutta">    </p:cNvPr>
          <p:cNvPicPr>
            <a:picLocks noChangeAspect="1"/>
          </p:cNvPicPr>
          <p:nvPr/>
        </p:nvPicPr>
        <p:blipFill>
          <a:blip r:embed="rId1"/>
          <a:stretch>
            <a:fillRect/>
          </a:stretch>
        </p:blipFill>
        <p:spPr>
          <a:xfrm>
            <a:off x="685800" y="1920240"/>
            <a:ext cx="914400" cy="914400"/>
          </a:xfrm>
          <a:prstGeom prst="ellipse">
            <a:avLst/>
          </a:prstGeom>
        </p:spPr>
      </p:pic>
      <p:sp>
        <p:nvSpPr>
          <p:cNvPr id="8" name="Text 5"/>
          <p:cNvSpPr txBox="1"/>
          <p:nvPr/>
        </p:nvSpPr>
        <p:spPr>
          <a:xfrm>
            <a:off x="1828800" y="1892808"/>
            <a:ext cx="2039112" cy="182880"/>
          </a:xfrm>
          <a:prstGeom prst="rect">
            <a:avLst/>
          </a:prstGeom>
          <a:noFill/>
          <a:ln/>
        </p:spPr>
        <p:txBody>
          <a:bodyPr wrap="square" lIns="0" tIns="0" rIns="0" bIns="0" rtlCol="0" anchor="t"/>
          <a:lstStyle/>
          <a:p>
            <a:pPr indent="0" marL="0">
              <a:buNone/>
            </a:pPr>
            <a:r>
              <a:rPr lang="en-US" sz="900" b="1" spc="200" kern="0" dirty="0">
                <a:solidFill>
                  <a:srgbClr val="2EC4B0"/>
                </a:solidFill>
                <a:latin typeface="Calibri" pitchFamily="34" charset="0"/>
                <a:ea typeface="Calibri" pitchFamily="34" charset="-122"/>
                <a:cs typeface="Calibri" pitchFamily="34" charset="-120"/>
              </a:rPr>
              <a:t>LEADS OPS &amp; CORRIDORS</a:t>
            </a:r>
            <a:endParaRPr lang="en-US" sz="900" dirty="0"/>
          </a:p>
        </p:txBody>
      </p:sp>
      <p:sp>
        <p:nvSpPr>
          <p:cNvPr id="9" name="Text 6">
            <a:hlinkClick r:id="rId2" tooltip=""/>
          </p:cNvPr>
          <p:cNvSpPr txBox="1"/>
          <p:nvPr/>
        </p:nvSpPr>
        <p:spPr>
          <a:xfrm>
            <a:off x="1828800" y="2075688"/>
            <a:ext cx="2039112" cy="329184"/>
          </a:xfrm>
          <a:prstGeom prst="rect">
            <a:avLst/>
          </a:prstGeom>
          <a:noFill/>
          <a:ln/>
        </p:spPr>
        <p:txBody>
          <a:bodyPr wrap="square" lIns="0" tIns="0" rIns="0" bIns="0" rtlCol="0" anchor="t"/>
          <a:lstStyle/>
          <a:p>
            <a:pPr indent="0" marL="0">
              <a:buNone/>
            </a:pPr>
            <a:r>
              <a:rPr lang="en-US" sz="19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Sutanu Dutta</a:t>
            </a:r>
            <a:endParaRPr lang="en-US" sz="1900" dirty="0"/>
          </a:p>
        </p:txBody>
      </p:sp>
      <p:sp>
        <p:nvSpPr>
          <p:cNvPr id="10" name="Text 7"/>
          <p:cNvSpPr txBox="1"/>
          <p:nvPr/>
        </p:nvSpPr>
        <p:spPr>
          <a:xfrm>
            <a:off x="1828800" y="2423160"/>
            <a:ext cx="2039112" cy="201168"/>
          </a:xfrm>
          <a:prstGeom prst="rect">
            <a:avLst/>
          </a:prstGeom>
          <a:noFill/>
          <a:ln/>
        </p:spPr>
        <p:txBody>
          <a:bodyPr wrap="square" lIns="0" tIns="0" rIns="0" bIns="0" rtlCol="0" anchor="t"/>
          <a:lstStyle/>
          <a:p>
            <a:pPr indent="0" marL="0">
              <a:buNone/>
            </a:pPr>
            <a:r>
              <a:rPr lang="en-US" sz="1100" b="1" dirty="0">
                <a:solidFill>
                  <a:srgbClr val="2EC4B0"/>
                </a:solidFill>
                <a:latin typeface="Calibri" pitchFamily="34" charset="0"/>
                <a:ea typeface="Calibri" pitchFamily="34" charset="-122"/>
                <a:cs typeface="Calibri" pitchFamily="34" charset="-120"/>
              </a:rPr>
              <a:t>Co-founder &amp; CEO  ·  19 yrs</a:t>
            </a:r>
            <a:endParaRPr lang="en-US" sz="1100" dirty="0"/>
          </a:p>
        </p:txBody>
      </p:sp>
      <p:sp>
        <p:nvSpPr>
          <p:cNvPr id="11" name="Text 8"/>
          <p:cNvSpPr txBox="1"/>
          <p:nvPr/>
        </p:nvSpPr>
        <p:spPr>
          <a:xfrm>
            <a:off x="1828800" y="2624328"/>
            <a:ext cx="2039112" cy="329184"/>
          </a:xfrm>
          <a:prstGeom prst="rect">
            <a:avLst/>
          </a:prstGeom>
          <a:noFill/>
          <a:ln/>
        </p:spPr>
        <p:txBody>
          <a:bodyPr wrap="square" lIns="0" tIns="0" rIns="0" bIns="0" rtlCol="0" anchor="t"/>
          <a:lstStyle/>
          <a:p>
            <a:pPr indent="0" marL="0">
              <a:buNone/>
            </a:pPr>
            <a:r>
              <a:rPr lang="en-US" sz="900" dirty="0">
                <a:solidFill>
                  <a:srgbClr val="8496B3"/>
                </a:solidFill>
                <a:latin typeface="Calibri" pitchFamily="34" charset="0"/>
                <a:ea typeface="Calibri" pitchFamily="34" charset="-122"/>
                <a:cs typeface="Calibri" pitchFamily="34" charset="-120"/>
              </a:rPr>
              <a:t>MBA, IIM Raipur  ·  B.Com (Hons), SRCC</a:t>
            </a:r>
            <a:endParaRPr lang="en-US" sz="900" dirty="0"/>
          </a:p>
        </p:txBody>
      </p:sp>
      <p:sp>
        <p:nvSpPr>
          <p:cNvPr id="12" name="Shape 9"/>
          <p:cNvSpPr/>
          <p:nvPr/>
        </p:nvSpPr>
        <p:spPr>
          <a:xfrm>
            <a:off x="685800" y="3017520"/>
            <a:ext cx="3182112" cy="566928"/>
          </a:xfrm>
          <a:prstGeom prst="roundRect">
            <a:avLst>
              <a:gd name="adj" fmla="val 12903"/>
            </a:avLst>
          </a:prstGeom>
          <a:solidFill>
            <a:srgbClr val="1C3A63"/>
          </a:solidFill>
          <a:ln w="12700">
            <a:solidFill>
              <a:srgbClr val="2EC4B0"/>
            </a:solidFill>
            <a:prstDash val="solid"/>
          </a:ln>
        </p:spPr>
      </p:sp>
      <p:sp>
        <p:nvSpPr>
          <p:cNvPr id="13" name="Text 10"/>
          <p:cNvSpPr txBox="1"/>
          <p:nvPr/>
        </p:nvSpPr>
        <p:spPr>
          <a:xfrm>
            <a:off x="795528" y="3063240"/>
            <a:ext cx="2962656" cy="475488"/>
          </a:xfrm>
          <a:prstGeom prst="rect">
            <a:avLst/>
          </a:prstGeom>
          <a:noFill/>
          <a:ln/>
        </p:spPr>
        <p:txBody>
          <a:bodyPr wrap="square" lIns="0" tIns="0" rIns="0" bIns="0" rtlCol="0" anchor="ctr"/>
          <a:lstStyle/>
          <a:p>
            <a:pPr indent="0" marL="0">
              <a:buNone/>
            </a:pPr>
            <a:r>
              <a:rPr lang="en-US" sz="850" b="1" spc="100" kern="0" dirty="0">
                <a:solidFill>
                  <a:srgbClr val="2EC4B0"/>
                </a:solidFill>
                <a:latin typeface="Calibri" pitchFamily="34" charset="0"/>
                <a:ea typeface="Calibri" pitchFamily="34" charset="-122"/>
                <a:cs typeface="Calibri" pitchFamily="34" charset="-120"/>
              </a:rPr>
              <a:t>AT BRIDGE NURSE  </a:t>
            </a:r>
            <a:pPr indent="0" marL="0">
              <a:buNone/>
            </a:pPr>
            <a:r>
              <a:rPr lang="en-US" sz="1050" i="1" dirty="0">
                <a:solidFill>
                  <a:srgbClr val="FFFFFF"/>
                </a:solidFill>
                <a:latin typeface="Calibri" pitchFamily="34" charset="0"/>
                <a:ea typeface="Calibri" pitchFamily="34" charset="-122"/>
                <a:cs typeface="Calibri" pitchFamily="34" charset="-120"/>
              </a:rPr>
              <a:t>Has built a workforce engine and healthcare corridors abroad. Now runs both for Bridge Nurse.</a:t>
            </a:r>
            <a:endParaRPr lang="en-US" sz="1050" dirty="0"/>
          </a:p>
        </p:txBody>
      </p:sp>
      <p:sp>
        <p:nvSpPr>
          <p:cNvPr id="14" name="Text 11"/>
          <p:cNvSpPr txBox="1"/>
          <p:nvPr/>
        </p:nvSpPr>
        <p:spPr>
          <a:xfrm>
            <a:off x="685800" y="3675888"/>
            <a:ext cx="1545336" cy="411480"/>
          </a:xfrm>
          <a:prstGeom prst="rect">
            <a:avLst/>
          </a:prstGeom>
          <a:noFill/>
          <a:ln/>
        </p:spPr>
        <p:txBody>
          <a:bodyPr wrap="square" lIns="0" tIns="0" rIns="0" bIns="0" rtlCol="0" anchor="t"/>
          <a:lstStyle/>
          <a:p>
            <a:pPr indent="0" marL="0">
              <a:buNone/>
            </a:pPr>
            <a:r>
              <a:rPr lang="en-US" sz="2500" dirty="0">
                <a:solidFill>
                  <a:srgbClr val="2EC4B0"/>
                </a:solidFill>
                <a:latin typeface="Georgia" pitchFamily="34" charset="0"/>
                <a:ea typeface="Georgia" pitchFamily="34" charset="-122"/>
                <a:cs typeface="Georgia" pitchFamily="34" charset="-120"/>
              </a:rPr>
              <a:t>11,000+</a:t>
            </a:r>
            <a:endParaRPr lang="en-US" sz="2500" dirty="0"/>
          </a:p>
        </p:txBody>
      </p:sp>
      <p:sp>
        <p:nvSpPr>
          <p:cNvPr id="15" name="Text 12"/>
          <p:cNvSpPr txBox="1"/>
          <p:nvPr/>
        </p:nvSpPr>
        <p:spPr>
          <a:xfrm>
            <a:off x="685800"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associates deployed, full P&amp;L</a:t>
            </a:r>
            <a:endParaRPr lang="en-US" sz="1000" dirty="0"/>
          </a:p>
        </p:txBody>
      </p:sp>
      <p:sp>
        <p:nvSpPr>
          <p:cNvPr id="16" name="Text 13"/>
          <p:cNvSpPr txBox="1"/>
          <p:nvPr/>
        </p:nvSpPr>
        <p:spPr>
          <a:xfrm>
            <a:off x="2322576" y="3675888"/>
            <a:ext cx="1545336" cy="411480"/>
          </a:xfrm>
          <a:prstGeom prst="rect">
            <a:avLst/>
          </a:prstGeom>
          <a:noFill/>
          <a:ln/>
        </p:spPr>
        <p:txBody>
          <a:bodyPr wrap="square" lIns="0" tIns="0" rIns="0" bIns="0" rtlCol="0" anchor="t"/>
          <a:lstStyle/>
          <a:p>
            <a:pPr indent="0" marL="0">
              <a:buNone/>
            </a:pPr>
            <a:r>
              <a:rPr lang="en-US" sz="2500" dirty="0">
                <a:solidFill>
                  <a:srgbClr val="2EC4B0"/>
                </a:solidFill>
                <a:latin typeface="Georgia" pitchFamily="34" charset="0"/>
                <a:ea typeface="Georgia" pitchFamily="34" charset="-122"/>
                <a:cs typeface="Georgia" pitchFamily="34" charset="-120"/>
              </a:rPr>
              <a:t>5.3×</a:t>
            </a:r>
            <a:endParaRPr lang="en-US" sz="2500" dirty="0"/>
          </a:p>
        </p:txBody>
      </p:sp>
      <p:sp>
        <p:nvSpPr>
          <p:cNvPr id="17" name="Text 14"/>
          <p:cNvSpPr txBox="1"/>
          <p:nvPr/>
        </p:nvSpPr>
        <p:spPr>
          <a:xfrm>
            <a:off x="2322576"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revenue scaled, $2M → $11M</a:t>
            </a:r>
            <a:endParaRPr lang="en-US" sz="1000" dirty="0"/>
          </a:p>
        </p:txBody>
      </p:sp>
      <p:sp>
        <p:nvSpPr>
          <p:cNvPr id="18" name="Text 15"/>
          <p:cNvSpPr txBox="1"/>
          <p:nvPr/>
        </p:nvSpPr>
        <p:spPr>
          <a:xfrm>
            <a:off x="685800" y="4434840"/>
            <a:ext cx="3182112" cy="164592"/>
          </a:xfrm>
          <a:prstGeom prst="rect">
            <a:avLst/>
          </a:prstGeom>
          <a:noFill/>
          <a:ln/>
        </p:spPr>
        <p:txBody>
          <a:bodyPr wrap="square" lIns="0" tIns="0" rIns="0" bIns="0" rtlCol="0" anchor="t"/>
          <a:lstStyle/>
          <a:p>
            <a:pPr indent="0" marL="0">
              <a:buNone/>
            </a:pPr>
            <a:r>
              <a:rPr lang="en-US" sz="850" b="1" spc="200" kern="0" dirty="0">
                <a:solidFill>
                  <a:srgbClr val="8496B3"/>
                </a:solidFill>
                <a:latin typeface="Calibri" pitchFamily="34" charset="0"/>
                <a:ea typeface="Calibri" pitchFamily="34" charset="-122"/>
                <a:cs typeface="Calibri" pitchFamily="34" charset="-120"/>
              </a:rPr>
              <a:t>PREVIOUSLY</a:t>
            </a:r>
            <a:endParaRPr lang="en-US" sz="850" dirty="0"/>
          </a:p>
        </p:txBody>
      </p:sp>
      <p:sp>
        <p:nvSpPr>
          <p:cNvPr id="19" name="Text 16"/>
          <p:cNvSpPr txBox="1"/>
          <p:nvPr/>
        </p:nvSpPr>
        <p:spPr>
          <a:xfrm>
            <a:off x="685800" y="4590288"/>
            <a:ext cx="3182112" cy="38404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Truxapp · Rivigo · HT Media · Peel Works</a:t>
            </a:r>
            <a:endParaRPr lang="en-US" sz="1150" dirty="0"/>
          </a:p>
        </p:txBody>
      </p:sp>
      <p:sp>
        <p:nvSpPr>
          <p:cNvPr id="20" name="Text 17"/>
          <p:cNvSpPr txBox="1"/>
          <p:nvPr/>
        </p:nvSpPr>
        <p:spPr>
          <a:xfrm>
            <a:off x="685800" y="4983480"/>
            <a:ext cx="3182112" cy="676656"/>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Co-founded RG Medicare (medical tourism): 8 JCI-accredited hospital partners; opened Bangladesh &amp; Oman</a:t>
            </a:r>
            <a:endParaRPr lang="en-US" sz="1000" dirty="0"/>
          </a:p>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Won $16M from Reliance &amp; ITC; ran a $25M distribution P&amp;L</a:t>
            </a:r>
            <a:endParaRPr lang="en-US" sz="1000" dirty="0"/>
          </a:p>
        </p:txBody>
      </p:sp>
      <p:sp>
        <p:nvSpPr>
          <p:cNvPr id="21" name="Text 18"/>
          <p:cNvSpPr txBox="1"/>
          <p:nvPr/>
        </p:nvSpPr>
        <p:spPr>
          <a:xfrm>
            <a:off x="685800" y="5715000"/>
            <a:ext cx="973836" cy="237744"/>
          </a:xfrm>
          <a:prstGeom prst="roundRect">
            <a:avLst>
              <a:gd name="adj" fmla="val 50000"/>
            </a:avLst>
          </a:prstGeom>
          <a:solidFill>
            <a:srgbClr val="1C3A63"/>
          </a:solidFill>
          <a:ln w="9525">
            <a:solidFill>
              <a:srgbClr val="2EC4B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1→100 Scaling</a:t>
            </a:r>
            <a:endParaRPr lang="en-US" sz="950" dirty="0"/>
          </a:p>
        </p:txBody>
      </p:sp>
      <p:sp>
        <p:nvSpPr>
          <p:cNvPr id="22" name="Text 19"/>
          <p:cNvSpPr txBox="1"/>
          <p:nvPr/>
        </p:nvSpPr>
        <p:spPr>
          <a:xfrm>
            <a:off x="1732788" y="5715000"/>
            <a:ext cx="1152144" cy="237744"/>
          </a:xfrm>
          <a:prstGeom prst="roundRect">
            <a:avLst>
              <a:gd name="adj" fmla="val 50000"/>
            </a:avLst>
          </a:prstGeom>
          <a:solidFill>
            <a:srgbClr val="1C3A63"/>
          </a:solidFill>
          <a:ln w="9525">
            <a:solidFill>
              <a:srgbClr val="2EC4B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Cross-Border Ops</a:t>
            </a:r>
            <a:endParaRPr lang="en-US" sz="950" dirty="0"/>
          </a:p>
        </p:txBody>
      </p:sp>
      <p:sp>
        <p:nvSpPr>
          <p:cNvPr id="23" name="Text 20"/>
          <p:cNvSpPr txBox="1"/>
          <p:nvPr/>
        </p:nvSpPr>
        <p:spPr>
          <a:xfrm>
            <a:off x="2958084" y="5715000"/>
            <a:ext cx="795528" cy="237744"/>
          </a:xfrm>
          <a:prstGeom prst="roundRect">
            <a:avLst>
              <a:gd name="adj" fmla="val 50000"/>
            </a:avLst>
          </a:prstGeom>
          <a:solidFill>
            <a:srgbClr val="1C3A63"/>
          </a:solidFill>
          <a:ln w="9525">
            <a:solidFill>
              <a:srgbClr val="2EC4B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Ops Leader</a:t>
            </a:r>
            <a:endParaRPr lang="en-US" sz="950" dirty="0"/>
          </a:p>
        </p:txBody>
      </p:sp>
      <p:sp>
        <p:nvSpPr>
          <p:cNvPr id="24" name="Vaibhav Kedia card"/>
          <p:cNvSpPr/>
          <p:nvPr/>
        </p:nvSpPr>
        <p:spPr>
          <a:xfrm>
            <a:off x="4279392" y="1691640"/>
            <a:ext cx="3639312" cy="4407408"/>
          </a:xfrm>
          <a:prstGeom prst="roundRect">
            <a:avLst>
              <a:gd name="adj" fmla="val 3015"/>
            </a:avLst>
          </a:prstGeom>
          <a:solidFill>
            <a:srgbClr val="13294B"/>
          </a:solidFill>
          <a:ln w="9525">
            <a:solidFill>
              <a:srgbClr val="1F3A62"/>
            </a:solidFill>
            <a:prstDash val="solid"/>
          </a:ln>
          <a:effectLst>
            <a:outerShdw sx="100000" sy="100000" kx="0" ky="0" algn="bl" rotWithShape="0" blurRad="127000" dist="38100" dir="5400000">
              <a:srgbClr val="000000">
                <a:alpha val="35000"/>
              </a:srgbClr>
            </a:outerShdw>
          </a:effectLst>
        </p:spPr>
      </p:sp>
      <p:sp>
        <p:nvSpPr>
          <p:cNvPr id="25" name="Shape 22"/>
          <p:cNvSpPr/>
          <p:nvPr/>
        </p:nvSpPr>
        <p:spPr>
          <a:xfrm>
            <a:off x="4462272" y="1874520"/>
            <a:ext cx="1005840" cy="1005840"/>
          </a:xfrm>
          <a:prstGeom prst="ellipse">
            <a:avLst/>
          </a:prstGeom>
          <a:solidFill>
            <a:srgbClr val="E07A3F"/>
          </a:solidFill>
          <a:ln w="12700">
            <a:solidFill>
              <a:srgbClr val="E07A3F"/>
            </a:solidFill>
            <a:prstDash val="solid"/>
          </a:ln>
        </p:spPr>
      </p:sp>
      <p:pic>
        <p:nvPicPr>
          <p:cNvPr id="26" name="Image 1" descr="Photo of Vaibhav Kedia">    </p:cNvPr>
          <p:cNvPicPr>
            <a:picLocks noChangeAspect="1"/>
          </p:cNvPicPr>
          <p:nvPr/>
        </p:nvPicPr>
        <p:blipFill>
          <a:blip r:embed="rId3"/>
          <a:stretch>
            <a:fillRect/>
          </a:stretch>
        </p:blipFill>
        <p:spPr>
          <a:xfrm>
            <a:off x="4507992" y="1920240"/>
            <a:ext cx="914400" cy="914400"/>
          </a:xfrm>
          <a:prstGeom prst="ellipse">
            <a:avLst/>
          </a:prstGeom>
        </p:spPr>
      </p:pic>
      <p:sp>
        <p:nvSpPr>
          <p:cNvPr id="27" name="Text 23"/>
          <p:cNvSpPr txBox="1"/>
          <p:nvPr/>
        </p:nvSpPr>
        <p:spPr>
          <a:xfrm>
            <a:off x="5650992" y="1892808"/>
            <a:ext cx="2039112" cy="182880"/>
          </a:xfrm>
          <a:prstGeom prst="rect">
            <a:avLst/>
          </a:prstGeom>
          <a:noFill/>
          <a:ln/>
        </p:spPr>
        <p:txBody>
          <a:bodyPr wrap="square" lIns="0" tIns="0" rIns="0" bIns="0" rtlCol="0" anchor="t"/>
          <a:lstStyle/>
          <a:p>
            <a:pPr indent="0" marL="0">
              <a:buNone/>
            </a:pPr>
            <a:r>
              <a:rPr lang="en-US" sz="900" b="1" spc="200" kern="0" dirty="0">
                <a:solidFill>
                  <a:srgbClr val="E07A3F"/>
                </a:solidFill>
                <a:latin typeface="Calibri" pitchFamily="34" charset="0"/>
                <a:ea typeface="Calibri" pitchFamily="34" charset="-122"/>
                <a:cs typeface="Calibri" pitchFamily="34" charset="-120"/>
              </a:rPr>
              <a:t>LEADS FINANCE &amp; AUDIT</a:t>
            </a:r>
            <a:endParaRPr lang="en-US" sz="900" dirty="0"/>
          </a:p>
        </p:txBody>
      </p:sp>
      <p:sp>
        <p:nvSpPr>
          <p:cNvPr id="28" name="Text 24">
            <a:hlinkClick r:id="rId4" tooltip=""/>
          </p:cNvPr>
          <p:cNvSpPr txBox="1"/>
          <p:nvPr/>
        </p:nvSpPr>
        <p:spPr>
          <a:xfrm>
            <a:off x="5650992" y="2075688"/>
            <a:ext cx="2039112" cy="329184"/>
          </a:xfrm>
          <a:prstGeom prst="rect">
            <a:avLst/>
          </a:prstGeom>
          <a:noFill/>
          <a:ln/>
        </p:spPr>
        <p:txBody>
          <a:bodyPr wrap="square" lIns="0" tIns="0" rIns="0" bIns="0" rtlCol="0" anchor="t"/>
          <a:lstStyle/>
          <a:p>
            <a:pPr indent="0" marL="0">
              <a:buNone/>
            </a:pPr>
            <a:r>
              <a:rPr lang="en-US" sz="1900" b="1" u="sng" dirty="0">
                <a:solidFill>
                  <a:srgbClr val="FFFFF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Vaibhav Kedia</a:t>
            </a:r>
            <a:endParaRPr lang="en-US" sz="1900" dirty="0"/>
          </a:p>
        </p:txBody>
      </p:sp>
      <p:sp>
        <p:nvSpPr>
          <p:cNvPr id="29" name="Text 25"/>
          <p:cNvSpPr txBox="1"/>
          <p:nvPr/>
        </p:nvSpPr>
        <p:spPr>
          <a:xfrm>
            <a:off x="5650992" y="2423160"/>
            <a:ext cx="2039112" cy="201168"/>
          </a:xfrm>
          <a:prstGeom prst="rect">
            <a:avLst/>
          </a:prstGeom>
          <a:noFill/>
          <a:ln/>
        </p:spPr>
        <p:txBody>
          <a:bodyPr wrap="square" lIns="0" tIns="0" rIns="0" bIns="0" rtlCol="0" anchor="t"/>
          <a:lstStyle/>
          <a:p>
            <a:pPr indent="0" marL="0">
              <a:buNone/>
            </a:pPr>
            <a:r>
              <a:rPr lang="en-US" sz="1100" b="1" dirty="0">
                <a:solidFill>
                  <a:srgbClr val="E07A3F"/>
                </a:solidFill>
                <a:latin typeface="Calibri" pitchFamily="34" charset="0"/>
                <a:ea typeface="Calibri" pitchFamily="34" charset="-122"/>
                <a:cs typeface="Calibri" pitchFamily="34" charset="-120"/>
              </a:rPr>
              <a:t>Co-founder &amp; CFO  ·  19 yrs</a:t>
            </a:r>
            <a:endParaRPr lang="en-US" sz="1100" dirty="0"/>
          </a:p>
        </p:txBody>
      </p:sp>
      <p:sp>
        <p:nvSpPr>
          <p:cNvPr id="30" name="Text 26"/>
          <p:cNvSpPr txBox="1"/>
          <p:nvPr/>
        </p:nvSpPr>
        <p:spPr>
          <a:xfrm>
            <a:off x="5650992" y="2624328"/>
            <a:ext cx="2039112" cy="329184"/>
          </a:xfrm>
          <a:prstGeom prst="rect">
            <a:avLst/>
          </a:prstGeom>
          <a:noFill/>
          <a:ln/>
        </p:spPr>
        <p:txBody>
          <a:bodyPr wrap="square" lIns="0" tIns="0" rIns="0" bIns="0" rtlCol="0" anchor="t"/>
          <a:lstStyle/>
          <a:p>
            <a:pPr indent="0" marL="0">
              <a:buNone/>
            </a:pPr>
            <a:r>
              <a:rPr lang="en-US" sz="900" dirty="0">
                <a:solidFill>
                  <a:srgbClr val="8496B3"/>
                </a:solidFill>
                <a:latin typeface="Calibri" pitchFamily="34" charset="0"/>
                <a:ea typeface="Calibri" pitchFamily="34" charset="-122"/>
                <a:cs typeface="Calibri" pitchFamily="34" charset="-120"/>
              </a:rPr>
              <a:t>CA (ICAI)  ·  B.Com (Hons), SRCC</a:t>
            </a:r>
            <a:endParaRPr lang="en-US" sz="900" dirty="0"/>
          </a:p>
        </p:txBody>
      </p:sp>
      <p:sp>
        <p:nvSpPr>
          <p:cNvPr id="31" name="Shape 27"/>
          <p:cNvSpPr/>
          <p:nvPr/>
        </p:nvSpPr>
        <p:spPr>
          <a:xfrm>
            <a:off x="4507992" y="3017520"/>
            <a:ext cx="3182112" cy="566928"/>
          </a:xfrm>
          <a:prstGeom prst="roundRect">
            <a:avLst>
              <a:gd name="adj" fmla="val 12903"/>
            </a:avLst>
          </a:prstGeom>
          <a:solidFill>
            <a:srgbClr val="1C3A63"/>
          </a:solidFill>
          <a:ln w="12700">
            <a:solidFill>
              <a:srgbClr val="E07A3F"/>
            </a:solidFill>
            <a:prstDash val="solid"/>
          </a:ln>
        </p:spPr>
      </p:sp>
      <p:sp>
        <p:nvSpPr>
          <p:cNvPr id="32" name="Text 28"/>
          <p:cNvSpPr txBox="1"/>
          <p:nvPr/>
        </p:nvSpPr>
        <p:spPr>
          <a:xfrm>
            <a:off x="4617720" y="3063240"/>
            <a:ext cx="2962656" cy="475488"/>
          </a:xfrm>
          <a:prstGeom prst="rect">
            <a:avLst/>
          </a:prstGeom>
          <a:noFill/>
          <a:ln/>
        </p:spPr>
        <p:txBody>
          <a:bodyPr wrap="square" lIns="0" tIns="0" rIns="0" bIns="0" rtlCol="0" anchor="ctr"/>
          <a:lstStyle/>
          <a:p>
            <a:pPr indent="0" marL="0">
              <a:buNone/>
            </a:pPr>
            <a:r>
              <a:rPr lang="en-US" sz="850" b="1" spc="100" kern="0" dirty="0">
                <a:solidFill>
                  <a:srgbClr val="E07A3F"/>
                </a:solidFill>
                <a:latin typeface="Calibri" pitchFamily="34" charset="0"/>
                <a:ea typeface="Calibri" pitchFamily="34" charset="-122"/>
                <a:cs typeface="Calibri" pitchFamily="34" charset="-120"/>
              </a:rPr>
              <a:t>AT BRIDGE NURSE  </a:t>
            </a:r>
            <a:pPr indent="0" marL="0">
              <a:buNone/>
            </a:pPr>
            <a:r>
              <a:rPr lang="en-US" sz="1050" i="1" dirty="0">
                <a:solidFill>
                  <a:srgbClr val="FFFFFF"/>
                </a:solidFill>
                <a:latin typeface="Calibri" pitchFamily="34" charset="0"/>
                <a:ea typeface="Calibri" pitchFamily="34" charset="-122"/>
                <a:cs typeface="Calibri" pitchFamily="34" charset="-120"/>
              </a:rPr>
              <a:t>Big 4-grade controls from day one, from a CFO who has delivered a QIP and now leads an IPO.</a:t>
            </a:r>
            <a:endParaRPr lang="en-US" sz="1050" dirty="0"/>
          </a:p>
        </p:txBody>
      </p:sp>
      <p:sp>
        <p:nvSpPr>
          <p:cNvPr id="33" name="Text 29"/>
          <p:cNvSpPr txBox="1"/>
          <p:nvPr/>
        </p:nvSpPr>
        <p:spPr>
          <a:xfrm>
            <a:off x="4507992" y="3675888"/>
            <a:ext cx="1545336" cy="411480"/>
          </a:xfrm>
          <a:prstGeom prst="rect">
            <a:avLst/>
          </a:prstGeom>
          <a:noFill/>
          <a:ln/>
        </p:spPr>
        <p:txBody>
          <a:bodyPr wrap="square" lIns="0" tIns="0" rIns="0" bIns="0" rtlCol="0" anchor="t"/>
          <a:lstStyle/>
          <a:p>
            <a:pPr indent="0" marL="0">
              <a:buNone/>
            </a:pPr>
            <a:r>
              <a:rPr lang="en-US" sz="2500" dirty="0">
                <a:solidFill>
                  <a:srgbClr val="E07A3F"/>
                </a:solidFill>
                <a:latin typeface="Georgia" pitchFamily="34" charset="0"/>
                <a:ea typeface="Georgia" pitchFamily="34" charset="-122"/>
                <a:cs typeface="Georgia" pitchFamily="34" charset="-120"/>
              </a:rPr>
              <a:t>19 yrs</a:t>
            </a:r>
            <a:endParaRPr lang="en-US" sz="2500" dirty="0"/>
          </a:p>
        </p:txBody>
      </p:sp>
      <p:sp>
        <p:nvSpPr>
          <p:cNvPr id="34" name="Text 30"/>
          <p:cNvSpPr txBox="1"/>
          <p:nvPr/>
        </p:nvSpPr>
        <p:spPr>
          <a:xfrm>
            <a:off x="4507992"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at EY, intern → Director</a:t>
            </a:r>
            <a:endParaRPr lang="en-US" sz="1000" dirty="0"/>
          </a:p>
        </p:txBody>
      </p:sp>
      <p:sp>
        <p:nvSpPr>
          <p:cNvPr id="35" name="Text 31"/>
          <p:cNvSpPr txBox="1"/>
          <p:nvPr/>
        </p:nvSpPr>
        <p:spPr>
          <a:xfrm>
            <a:off x="6144768" y="3675888"/>
            <a:ext cx="1545336" cy="411480"/>
          </a:xfrm>
          <a:prstGeom prst="rect">
            <a:avLst/>
          </a:prstGeom>
          <a:noFill/>
          <a:ln/>
        </p:spPr>
        <p:txBody>
          <a:bodyPr wrap="square" lIns="0" tIns="0" rIns="0" bIns="0" rtlCol="0" anchor="t"/>
          <a:lstStyle/>
          <a:p>
            <a:pPr indent="0" marL="0">
              <a:buNone/>
            </a:pPr>
            <a:r>
              <a:rPr lang="en-US" sz="2500" dirty="0">
                <a:solidFill>
                  <a:srgbClr val="E07A3F"/>
                </a:solidFill>
                <a:latin typeface="Georgia" pitchFamily="34" charset="0"/>
                <a:ea typeface="Georgia" pitchFamily="34" charset="-122"/>
                <a:cs typeface="Georgia" pitchFamily="34" charset="-120"/>
              </a:rPr>
              <a:t>Top 10</a:t>
            </a:r>
            <a:endParaRPr lang="en-US" sz="2500" dirty="0"/>
          </a:p>
        </p:txBody>
      </p:sp>
      <p:sp>
        <p:nvSpPr>
          <p:cNvPr id="36" name="Text 32"/>
          <p:cNvSpPr txBox="1"/>
          <p:nvPr/>
        </p:nvSpPr>
        <p:spPr>
          <a:xfrm>
            <a:off x="6144768"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Fortune &amp; Sensex audits led</a:t>
            </a:r>
            <a:endParaRPr lang="en-US" sz="1000" dirty="0"/>
          </a:p>
        </p:txBody>
      </p:sp>
      <p:sp>
        <p:nvSpPr>
          <p:cNvPr id="37" name="Text 33"/>
          <p:cNvSpPr txBox="1"/>
          <p:nvPr/>
        </p:nvSpPr>
        <p:spPr>
          <a:xfrm>
            <a:off x="4507992" y="4434840"/>
            <a:ext cx="3182112" cy="164592"/>
          </a:xfrm>
          <a:prstGeom prst="rect">
            <a:avLst/>
          </a:prstGeom>
          <a:noFill/>
          <a:ln/>
        </p:spPr>
        <p:txBody>
          <a:bodyPr wrap="square" lIns="0" tIns="0" rIns="0" bIns="0" rtlCol="0" anchor="t"/>
          <a:lstStyle/>
          <a:p>
            <a:pPr indent="0" marL="0">
              <a:buNone/>
            </a:pPr>
            <a:r>
              <a:rPr lang="en-US" sz="850" b="1" spc="200" kern="0" dirty="0">
                <a:solidFill>
                  <a:srgbClr val="8496B3"/>
                </a:solidFill>
                <a:latin typeface="Calibri" pitchFamily="34" charset="0"/>
                <a:ea typeface="Calibri" pitchFamily="34" charset="-122"/>
                <a:cs typeface="Calibri" pitchFamily="34" charset="-120"/>
              </a:rPr>
              <a:t>TRUSTED BY</a:t>
            </a:r>
            <a:endParaRPr lang="en-US" sz="850" dirty="0"/>
          </a:p>
        </p:txBody>
      </p:sp>
      <p:sp>
        <p:nvSpPr>
          <p:cNvPr id="38" name="Text 34"/>
          <p:cNvSpPr txBox="1"/>
          <p:nvPr/>
        </p:nvSpPr>
        <p:spPr>
          <a:xfrm>
            <a:off x="4507992" y="4590288"/>
            <a:ext cx="3182112" cy="38404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Amazon · Airtel · ITC · Siemens · Intel · Epson · Happiest Minds</a:t>
            </a:r>
            <a:endParaRPr lang="en-US" sz="1150" dirty="0"/>
          </a:p>
        </p:txBody>
      </p:sp>
      <p:sp>
        <p:nvSpPr>
          <p:cNvPr id="39" name="Text 35"/>
          <p:cNvSpPr txBox="1"/>
          <p:nvPr/>
        </p:nvSpPr>
        <p:spPr>
          <a:xfrm>
            <a:off x="4507992" y="4983480"/>
            <a:ext cx="3182112" cy="676656"/>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Leads Big 4 audits of Fortune Top 10 &amp; Sensex 30 companies; team of ~25</a:t>
            </a:r>
            <a:endParaRPr lang="en-US" sz="1000" dirty="0"/>
          </a:p>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Steered a global restructuring of an e-commerce MNC; IFRS, US GAAP, SOX</a:t>
            </a:r>
            <a:endParaRPr lang="en-US" sz="1000" dirty="0"/>
          </a:p>
        </p:txBody>
      </p:sp>
      <p:sp>
        <p:nvSpPr>
          <p:cNvPr id="40" name="Text 36"/>
          <p:cNvSpPr txBox="1"/>
          <p:nvPr/>
        </p:nvSpPr>
        <p:spPr>
          <a:xfrm>
            <a:off x="4507992" y="5715000"/>
            <a:ext cx="1092708" cy="237744"/>
          </a:xfrm>
          <a:prstGeom prst="roundRect">
            <a:avLst>
              <a:gd name="adj" fmla="val 50000"/>
            </a:avLst>
          </a:prstGeom>
          <a:solidFill>
            <a:srgbClr val="1C3A63"/>
          </a:solidFill>
          <a:ln w="9525">
            <a:solidFill>
              <a:srgbClr val="E07A3F"/>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Finance &amp; Audit</a:t>
            </a:r>
            <a:endParaRPr lang="en-US" sz="950" dirty="0"/>
          </a:p>
        </p:txBody>
      </p:sp>
      <p:sp>
        <p:nvSpPr>
          <p:cNvPr id="41" name="Text 37"/>
          <p:cNvSpPr txBox="1"/>
          <p:nvPr/>
        </p:nvSpPr>
        <p:spPr>
          <a:xfrm>
            <a:off x="5673852" y="5715000"/>
            <a:ext cx="854964" cy="237744"/>
          </a:xfrm>
          <a:prstGeom prst="roundRect">
            <a:avLst>
              <a:gd name="adj" fmla="val 50000"/>
            </a:avLst>
          </a:prstGeom>
          <a:solidFill>
            <a:srgbClr val="1C3A63"/>
          </a:solidFill>
          <a:ln w="9525">
            <a:solidFill>
              <a:srgbClr val="E07A3F"/>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Big 4 Rigor</a:t>
            </a:r>
            <a:endParaRPr lang="en-US" sz="950" dirty="0"/>
          </a:p>
        </p:txBody>
      </p:sp>
      <p:sp>
        <p:nvSpPr>
          <p:cNvPr id="42" name="Text 38"/>
          <p:cNvSpPr txBox="1"/>
          <p:nvPr/>
        </p:nvSpPr>
        <p:spPr>
          <a:xfrm>
            <a:off x="6601968" y="5715000"/>
            <a:ext cx="736092" cy="237744"/>
          </a:xfrm>
          <a:prstGeom prst="roundRect">
            <a:avLst>
              <a:gd name="adj" fmla="val 50000"/>
            </a:avLst>
          </a:prstGeom>
          <a:solidFill>
            <a:srgbClr val="1C3A63"/>
          </a:solidFill>
          <a:ln w="9525">
            <a:solidFill>
              <a:srgbClr val="E07A3F"/>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IPO Ready</a:t>
            </a:r>
            <a:endParaRPr lang="en-US" sz="950" dirty="0"/>
          </a:p>
        </p:txBody>
      </p:sp>
      <p:sp>
        <p:nvSpPr>
          <p:cNvPr id="43" name="Rahul Luthra card"/>
          <p:cNvSpPr/>
          <p:nvPr/>
        </p:nvSpPr>
        <p:spPr>
          <a:xfrm>
            <a:off x="8101584" y="1691640"/>
            <a:ext cx="3639312" cy="4407408"/>
          </a:xfrm>
          <a:prstGeom prst="roundRect">
            <a:avLst>
              <a:gd name="adj" fmla="val 3015"/>
            </a:avLst>
          </a:prstGeom>
          <a:solidFill>
            <a:srgbClr val="13294B"/>
          </a:solidFill>
          <a:ln w="9525">
            <a:solidFill>
              <a:srgbClr val="1F3A62"/>
            </a:solidFill>
            <a:prstDash val="solid"/>
          </a:ln>
          <a:effectLst>
            <a:outerShdw sx="100000" sy="100000" kx="0" ky="0" algn="bl" rotWithShape="0" blurRad="127000" dist="38100" dir="5400000">
              <a:srgbClr val="000000">
                <a:alpha val="35000"/>
              </a:srgbClr>
            </a:outerShdw>
          </a:effectLst>
        </p:spPr>
      </p:sp>
      <p:sp>
        <p:nvSpPr>
          <p:cNvPr id="44" name="Shape 40"/>
          <p:cNvSpPr/>
          <p:nvPr/>
        </p:nvSpPr>
        <p:spPr>
          <a:xfrm>
            <a:off x="8284464" y="1874520"/>
            <a:ext cx="1005840" cy="1005840"/>
          </a:xfrm>
          <a:prstGeom prst="ellipse">
            <a:avLst/>
          </a:prstGeom>
          <a:solidFill>
            <a:srgbClr val="6FB2F0"/>
          </a:solidFill>
          <a:ln w="12700">
            <a:solidFill>
              <a:srgbClr val="6FB2F0"/>
            </a:solidFill>
            <a:prstDash val="solid"/>
          </a:ln>
        </p:spPr>
      </p:sp>
      <p:pic>
        <p:nvPicPr>
          <p:cNvPr id="45" name="Image 2" descr="Photo of Rahul Luthra">    </p:cNvPr>
          <p:cNvPicPr>
            <a:picLocks noChangeAspect="1"/>
          </p:cNvPicPr>
          <p:nvPr/>
        </p:nvPicPr>
        <p:blipFill>
          <a:blip r:embed="rId5"/>
          <a:stretch>
            <a:fillRect/>
          </a:stretch>
        </p:blipFill>
        <p:spPr>
          <a:xfrm>
            <a:off x="8330184" y="1920240"/>
            <a:ext cx="914400" cy="914400"/>
          </a:xfrm>
          <a:prstGeom prst="ellipse">
            <a:avLst/>
          </a:prstGeom>
        </p:spPr>
      </p:pic>
      <p:sp>
        <p:nvSpPr>
          <p:cNvPr id="46" name="Text 41"/>
          <p:cNvSpPr txBox="1"/>
          <p:nvPr/>
        </p:nvSpPr>
        <p:spPr>
          <a:xfrm>
            <a:off x="9473184" y="1892808"/>
            <a:ext cx="2039112" cy="182880"/>
          </a:xfrm>
          <a:prstGeom prst="rect">
            <a:avLst/>
          </a:prstGeom>
          <a:noFill/>
          <a:ln/>
        </p:spPr>
        <p:txBody>
          <a:bodyPr wrap="square" lIns="0" tIns="0" rIns="0" bIns="0" rtlCol="0" anchor="t"/>
          <a:lstStyle/>
          <a:p>
            <a:pPr indent="0" marL="0">
              <a:buNone/>
            </a:pPr>
            <a:r>
              <a:rPr lang="en-US" sz="900" b="1" spc="200" kern="0" dirty="0">
                <a:solidFill>
                  <a:srgbClr val="6FB2F0"/>
                </a:solidFill>
                <a:latin typeface="Calibri" pitchFamily="34" charset="0"/>
                <a:ea typeface="Calibri" pitchFamily="34" charset="-122"/>
                <a:cs typeface="Calibri" pitchFamily="34" charset="-120"/>
              </a:rPr>
              <a:t>LEADS GROWTH &amp; LAUNCH</a:t>
            </a:r>
            <a:endParaRPr lang="en-US" sz="900" dirty="0"/>
          </a:p>
        </p:txBody>
      </p:sp>
      <p:sp>
        <p:nvSpPr>
          <p:cNvPr id="47" name="Text 42">
            <a:hlinkClick r:id="rId6" tooltip=""/>
          </p:cNvPr>
          <p:cNvSpPr txBox="1"/>
          <p:nvPr/>
        </p:nvSpPr>
        <p:spPr>
          <a:xfrm>
            <a:off x="9473184" y="2075688"/>
            <a:ext cx="2039112" cy="329184"/>
          </a:xfrm>
          <a:prstGeom prst="rect">
            <a:avLst/>
          </a:prstGeom>
          <a:noFill/>
          <a:ln/>
        </p:spPr>
        <p:txBody>
          <a:bodyPr wrap="square" lIns="0" tIns="0" rIns="0" bIns="0" rtlCol="0" anchor="t"/>
          <a:lstStyle/>
          <a:p>
            <a:pPr indent="0" marL="0">
              <a:buNone/>
            </a:pPr>
            <a:r>
              <a:rPr lang="en-US" sz="1900" b="1" u="sng" dirty="0">
                <a:solidFill>
                  <a:srgbClr val="FFFFF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Rahul Luthra</a:t>
            </a:r>
            <a:endParaRPr lang="en-US" sz="1900" dirty="0"/>
          </a:p>
        </p:txBody>
      </p:sp>
      <p:sp>
        <p:nvSpPr>
          <p:cNvPr id="48" name="Text 43"/>
          <p:cNvSpPr txBox="1"/>
          <p:nvPr/>
        </p:nvSpPr>
        <p:spPr>
          <a:xfrm>
            <a:off x="9473184" y="2423160"/>
            <a:ext cx="2039112" cy="201168"/>
          </a:xfrm>
          <a:prstGeom prst="rect">
            <a:avLst/>
          </a:prstGeom>
          <a:noFill/>
          <a:ln/>
        </p:spPr>
        <p:txBody>
          <a:bodyPr wrap="square" lIns="0" tIns="0" rIns="0" bIns="0" rtlCol="0" anchor="t"/>
          <a:lstStyle/>
          <a:p>
            <a:pPr indent="0" marL="0">
              <a:buNone/>
            </a:pPr>
            <a:r>
              <a:rPr lang="en-US" sz="1100" b="1" dirty="0">
                <a:solidFill>
                  <a:srgbClr val="6FB2F0"/>
                </a:solidFill>
                <a:latin typeface="Calibri" pitchFamily="34" charset="0"/>
                <a:ea typeface="Calibri" pitchFamily="34" charset="-122"/>
                <a:cs typeface="Calibri" pitchFamily="34" charset="-120"/>
              </a:rPr>
              <a:t>Co-founder  ·  9 yrs  ·  2x Founder</a:t>
            </a:r>
            <a:endParaRPr lang="en-US" sz="1100" dirty="0"/>
          </a:p>
        </p:txBody>
      </p:sp>
      <p:sp>
        <p:nvSpPr>
          <p:cNvPr id="49" name="Text 44"/>
          <p:cNvSpPr txBox="1"/>
          <p:nvPr/>
        </p:nvSpPr>
        <p:spPr>
          <a:xfrm>
            <a:off x="9473184" y="2624328"/>
            <a:ext cx="2039112" cy="329184"/>
          </a:xfrm>
          <a:prstGeom prst="rect">
            <a:avLst/>
          </a:prstGeom>
          <a:noFill/>
          <a:ln/>
        </p:spPr>
        <p:txBody>
          <a:bodyPr wrap="square" lIns="0" tIns="0" rIns="0" bIns="0" rtlCol="0" anchor="t"/>
          <a:lstStyle/>
          <a:p>
            <a:pPr indent="0" marL="0">
              <a:buNone/>
            </a:pPr>
            <a:r>
              <a:rPr lang="en-US" sz="900" dirty="0">
                <a:solidFill>
                  <a:srgbClr val="8496B3"/>
                </a:solidFill>
                <a:latin typeface="Calibri" pitchFamily="34" charset="0"/>
                <a:ea typeface="Calibri" pitchFamily="34" charset="-122"/>
                <a:cs typeface="Calibri" pitchFamily="34" charset="-120"/>
              </a:rPr>
              <a:t>B.Com (Hons)  ·  CS coursework (ICSI)</a:t>
            </a:r>
            <a:endParaRPr lang="en-US" sz="900" dirty="0"/>
          </a:p>
        </p:txBody>
      </p:sp>
      <p:sp>
        <p:nvSpPr>
          <p:cNvPr id="50" name="Shape 45"/>
          <p:cNvSpPr/>
          <p:nvPr/>
        </p:nvSpPr>
        <p:spPr>
          <a:xfrm>
            <a:off x="8330184" y="3017520"/>
            <a:ext cx="3182112" cy="566928"/>
          </a:xfrm>
          <a:prstGeom prst="roundRect">
            <a:avLst>
              <a:gd name="adj" fmla="val 12903"/>
            </a:avLst>
          </a:prstGeom>
          <a:solidFill>
            <a:srgbClr val="1C3A63"/>
          </a:solidFill>
          <a:ln w="12700">
            <a:solidFill>
              <a:srgbClr val="6FB2F0"/>
            </a:solidFill>
            <a:prstDash val="solid"/>
          </a:ln>
        </p:spPr>
      </p:sp>
      <p:sp>
        <p:nvSpPr>
          <p:cNvPr id="51" name="Text 46"/>
          <p:cNvSpPr txBox="1"/>
          <p:nvPr/>
        </p:nvSpPr>
        <p:spPr>
          <a:xfrm>
            <a:off x="8439912" y="3063240"/>
            <a:ext cx="2962656" cy="475488"/>
          </a:xfrm>
          <a:prstGeom prst="rect">
            <a:avLst/>
          </a:prstGeom>
          <a:noFill/>
          <a:ln/>
        </p:spPr>
        <p:txBody>
          <a:bodyPr wrap="square" lIns="0" tIns="0" rIns="0" bIns="0" rtlCol="0" anchor="ctr"/>
          <a:lstStyle/>
          <a:p>
            <a:pPr indent="0" marL="0">
              <a:buNone/>
            </a:pPr>
            <a:r>
              <a:rPr lang="en-US" sz="850" b="1" spc="100" kern="0" dirty="0">
                <a:solidFill>
                  <a:srgbClr val="6FB2F0"/>
                </a:solidFill>
                <a:latin typeface="Calibri" pitchFamily="34" charset="0"/>
                <a:ea typeface="Calibri" pitchFamily="34" charset="-122"/>
                <a:cs typeface="Calibri" pitchFamily="34" charset="-120"/>
              </a:rPr>
              <a:t>AT BRIDGE NURSE  </a:t>
            </a:r>
            <a:pPr indent="0" marL="0">
              <a:buNone/>
            </a:pPr>
            <a:r>
              <a:rPr lang="en-US" sz="1050" i="1" dirty="0">
                <a:solidFill>
                  <a:srgbClr val="FFFFFF"/>
                </a:solidFill>
                <a:latin typeface="Calibri" pitchFamily="34" charset="0"/>
                <a:ea typeface="Calibri" pitchFamily="34" charset="-122"/>
                <a:cs typeface="Calibri" pitchFamily="34" charset="-120"/>
              </a:rPr>
              <a:t>Launches new cities and nurse cohorts the way Swiggy was launched in 20+ cities: fast and at scale.</a:t>
            </a:r>
            <a:endParaRPr lang="en-US" sz="1050" dirty="0"/>
          </a:p>
        </p:txBody>
      </p:sp>
      <p:sp>
        <p:nvSpPr>
          <p:cNvPr id="52" name="Text 47"/>
          <p:cNvSpPr txBox="1"/>
          <p:nvPr/>
        </p:nvSpPr>
        <p:spPr>
          <a:xfrm>
            <a:off x="8330184" y="3675888"/>
            <a:ext cx="1545336" cy="411480"/>
          </a:xfrm>
          <a:prstGeom prst="rect">
            <a:avLst/>
          </a:prstGeom>
          <a:noFill/>
          <a:ln/>
        </p:spPr>
        <p:txBody>
          <a:bodyPr wrap="square" lIns="0" tIns="0" rIns="0" bIns="0" rtlCol="0" anchor="t"/>
          <a:lstStyle/>
          <a:p>
            <a:pPr indent="0" marL="0">
              <a:buNone/>
            </a:pPr>
            <a:r>
              <a:rPr lang="en-US" sz="2500" dirty="0">
                <a:solidFill>
                  <a:srgbClr val="6FB2F0"/>
                </a:solidFill>
                <a:latin typeface="Georgia" pitchFamily="34" charset="0"/>
                <a:ea typeface="Georgia" pitchFamily="34" charset="-122"/>
                <a:cs typeface="Georgia" pitchFamily="34" charset="-120"/>
              </a:rPr>
              <a:t>10,000+</a:t>
            </a:r>
            <a:endParaRPr lang="en-US" sz="2500" dirty="0"/>
          </a:p>
        </p:txBody>
      </p:sp>
      <p:sp>
        <p:nvSpPr>
          <p:cNvPr id="53" name="Text 48"/>
          <p:cNvSpPr txBox="1"/>
          <p:nvPr/>
        </p:nvSpPr>
        <p:spPr>
          <a:xfrm>
            <a:off x="8330184"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gig workers onboarded</a:t>
            </a:r>
            <a:endParaRPr lang="en-US" sz="1000" dirty="0"/>
          </a:p>
        </p:txBody>
      </p:sp>
      <p:sp>
        <p:nvSpPr>
          <p:cNvPr id="54" name="Text 49"/>
          <p:cNvSpPr txBox="1"/>
          <p:nvPr/>
        </p:nvSpPr>
        <p:spPr>
          <a:xfrm>
            <a:off x="9966960" y="3675888"/>
            <a:ext cx="1545336" cy="411480"/>
          </a:xfrm>
          <a:prstGeom prst="rect">
            <a:avLst/>
          </a:prstGeom>
          <a:noFill/>
          <a:ln/>
        </p:spPr>
        <p:txBody>
          <a:bodyPr wrap="square" lIns="0" tIns="0" rIns="0" bIns="0" rtlCol="0" anchor="t"/>
          <a:lstStyle/>
          <a:p>
            <a:pPr indent="0" marL="0">
              <a:buNone/>
            </a:pPr>
            <a:r>
              <a:rPr lang="en-US" sz="2500" dirty="0">
                <a:solidFill>
                  <a:srgbClr val="6FB2F0"/>
                </a:solidFill>
                <a:latin typeface="Georgia" pitchFamily="34" charset="0"/>
                <a:ea typeface="Georgia" pitchFamily="34" charset="-122"/>
                <a:cs typeface="Georgia" pitchFamily="34" charset="-120"/>
              </a:rPr>
              <a:t>20+</a:t>
            </a:r>
            <a:endParaRPr lang="en-US" sz="2500" dirty="0"/>
          </a:p>
        </p:txBody>
      </p:sp>
      <p:sp>
        <p:nvSpPr>
          <p:cNvPr id="55" name="Text 50"/>
          <p:cNvSpPr txBox="1"/>
          <p:nvPr/>
        </p:nvSpPr>
        <p:spPr>
          <a:xfrm>
            <a:off x="9966960" y="4087368"/>
            <a:ext cx="1545336" cy="310896"/>
          </a:xfrm>
          <a:prstGeom prst="rect">
            <a:avLst/>
          </a:prstGeom>
          <a:noFill/>
          <a:ln/>
        </p:spPr>
        <p:txBody>
          <a:bodyPr wrap="square" lIns="0" tIns="0" rIns="0" bIns="0" rtlCol="0" anchor="t"/>
          <a:lstStyle/>
          <a:p>
            <a:pPr indent="0" marL="0">
              <a:buNone/>
            </a:pPr>
            <a:r>
              <a:rPr lang="en-US" sz="1000" dirty="0">
                <a:solidFill>
                  <a:srgbClr val="B9C7DD"/>
                </a:solidFill>
                <a:latin typeface="Calibri" pitchFamily="34" charset="0"/>
                <a:ea typeface="Calibri" pitchFamily="34" charset="-122"/>
                <a:cs typeface="Calibri" pitchFamily="34" charset="-120"/>
              </a:rPr>
              <a:t>cities launched for Swiggy</a:t>
            </a:r>
            <a:endParaRPr lang="en-US" sz="1000" dirty="0"/>
          </a:p>
        </p:txBody>
      </p:sp>
      <p:sp>
        <p:nvSpPr>
          <p:cNvPr id="56" name="Text 51"/>
          <p:cNvSpPr txBox="1"/>
          <p:nvPr/>
        </p:nvSpPr>
        <p:spPr>
          <a:xfrm>
            <a:off x="8330184" y="4434840"/>
            <a:ext cx="3182112" cy="164592"/>
          </a:xfrm>
          <a:prstGeom prst="rect">
            <a:avLst/>
          </a:prstGeom>
          <a:noFill/>
          <a:ln/>
        </p:spPr>
        <p:txBody>
          <a:bodyPr wrap="square" lIns="0" tIns="0" rIns="0" bIns="0" rtlCol="0" anchor="t"/>
          <a:lstStyle/>
          <a:p>
            <a:pPr indent="0" marL="0">
              <a:buNone/>
            </a:pPr>
            <a:r>
              <a:rPr lang="en-US" sz="850" b="1" spc="200" kern="0" dirty="0">
                <a:solidFill>
                  <a:srgbClr val="8496B3"/>
                </a:solidFill>
                <a:latin typeface="Calibri" pitchFamily="34" charset="0"/>
                <a:ea typeface="Calibri" pitchFamily="34" charset="-122"/>
                <a:cs typeface="Calibri" pitchFamily="34" charset="-120"/>
              </a:rPr>
              <a:t>PREVIOUSLY</a:t>
            </a:r>
            <a:endParaRPr lang="en-US" sz="850" dirty="0"/>
          </a:p>
        </p:txBody>
      </p:sp>
      <p:sp>
        <p:nvSpPr>
          <p:cNvPr id="57" name="Text 52"/>
          <p:cNvSpPr txBox="1"/>
          <p:nvPr/>
        </p:nvSpPr>
        <p:spPr>
          <a:xfrm>
            <a:off x="8330184" y="4590288"/>
            <a:ext cx="3182112" cy="384048"/>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Swiggy · Mitr.work (Founder) · Abacus</a:t>
            </a:r>
            <a:endParaRPr lang="en-US" sz="1150" dirty="0"/>
          </a:p>
        </p:txBody>
      </p:sp>
      <p:sp>
        <p:nvSpPr>
          <p:cNvPr id="58" name="Text 53"/>
          <p:cNvSpPr txBox="1"/>
          <p:nvPr/>
        </p:nvSpPr>
        <p:spPr>
          <a:xfrm>
            <a:off x="8330184" y="4983480"/>
            <a:ext cx="3182112" cy="676656"/>
          </a:xfrm>
          <a:prstGeom prst="rect">
            <a:avLst/>
          </a:prstGeom>
          <a:noFill/>
          <a:ln/>
        </p:spPr>
        <p:txBody>
          <a:bodyPr wrap="square" lIns="0" tIns="0" rIns="0" bIns="0" rtlCol="0" anchor="t"/>
          <a:lstStyle/>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2x founder: scaled two businesses from zero</a:t>
            </a:r>
            <a:endParaRPr lang="en-US" sz="1000" dirty="0"/>
          </a:p>
          <a:p>
            <a:pPr marL="152400" indent="-152400">
              <a:spcAft>
                <a:spcPts val="300"/>
              </a:spcAft>
              <a:buSzPct val="100000"/>
              <a:buChar char="•"/>
            </a:pPr>
            <a:r>
              <a:rPr lang="en-US" sz="1000" dirty="0">
                <a:solidFill>
                  <a:srgbClr val="B9C7DD"/>
                </a:solidFill>
                <a:latin typeface="Calibri" pitchFamily="34" charset="0"/>
                <a:ea typeface="Calibri" pitchFamily="34" charset="-122"/>
                <a:cs typeface="Calibri" pitchFamily="34" charset="-120"/>
              </a:rPr>
              <a:t>Mitr.work: 400+ delivery partners onboarded every month for Swiggy, Zomato &amp; Zepto</a:t>
            </a:r>
            <a:endParaRPr lang="en-US" sz="1000" dirty="0"/>
          </a:p>
        </p:txBody>
      </p:sp>
      <p:sp>
        <p:nvSpPr>
          <p:cNvPr id="59" name="Text 54"/>
          <p:cNvSpPr txBox="1"/>
          <p:nvPr/>
        </p:nvSpPr>
        <p:spPr>
          <a:xfrm>
            <a:off x="8330184" y="5715000"/>
            <a:ext cx="854964" cy="237744"/>
          </a:xfrm>
          <a:prstGeom prst="roundRect">
            <a:avLst>
              <a:gd name="adj" fmla="val 50000"/>
            </a:avLst>
          </a:prstGeom>
          <a:solidFill>
            <a:srgbClr val="1C3A63"/>
          </a:solidFill>
          <a:ln w="9525">
            <a:solidFill>
              <a:srgbClr val="6FB2F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0→1 Enabler</a:t>
            </a:r>
            <a:endParaRPr lang="en-US" sz="950" dirty="0"/>
          </a:p>
        </p:txBody>
      </p:sp>
      <p:sp>
        <p:nvSpPr>
          <p:cNvPr id="60" name="Text 55"/>
          <p:cNvSpPr txBox="1"/>
          <p:nvPr/>
        </p:nvSpPr>
        <p:spPr>
          <a:xfrm>
            <a:off x="9258300" y="5715000"/>
            <a:ext cx="379476" cy="237744"/>
          </a:xfrm>
          <a:prstGeom prst="roundRect">
            <a:avLst>
              <a:gd name="adj" fmla="val 50000"/>
            </a:avLst>
          </a:prstGeom>
          <a:solidFill>
            <a:srgbClr val="1C3A63"/>
          </a:solidFill>
          <a:ln w="9525">
            <a:solidFill>
              <a:srgbClr val="6FB2F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GTM</a:t>
            </a:r>
            <a:endParaRPr lang="en-US" sz="950" dirty="0"/>
          </a:p>
        </p:txBody>
      </p:sp>
      <p:sp>
        <p:nvSpPr>
          <p:cNvPr id="61" name="Text 56"/>
          <p:cNvSpPr txBox="1"/>
          <p:nvPr/>
        </p:nvSpPr>
        <p:spPr>
          <a:xfrm>
            <a:off x="9710928" y="5715000"/>
            <a:ext cx="1271016" cy="237744"/>
          </a:xfrm>
          <a:prstGeom prst="roundRect">
            <a:avLst>
              <a:gd name="adj" fmla="val 50000"/>
            </a:avLst>
          </a:prstGeom>
          <a:solidFill>
            <a:srgbClr val="1C3A63"/>
          </a:solidFill>
          <a:ln w="9525">
            <a:solidFill>
              <a:srgbClr val="6FB2F0"/>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Expansion &amp; Launch</a:t>
            </a:r>
            <a:endParaRPr lang="en-US" sz="950" dirty="0"/>
          </a:p>
        </p:txBody>
      </p:sp>
      <p:sp>
        <p:nvSpPr>
          <p:cNvPr id="62" name="Text 57"/>
          <p:cNvSpPr txBox="1"/>
          <p:nvPr/>
        </p:nvSpPr>
        <p:spPr>
          <a:xfrm>
            <a:off x="457200" y="6217920"/>
            <a:ext cx="11247120" cy="201168"/>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Next hires at close: </a:t>
            </a:r>
            <a:pPr indent="0" marL="0">
              <a:buNone/>
            </a:pPr>
            <a:r>
              <a:rPr lang="en-US" sz="1050" dirty="0">
                <a:solidFill>
                  <a:srgbClr val="B9C7DD"/>
                </a:solidFill>
                <a:latin typeface="Calibri" pitchFamily="34" charset="0"/>
                <a:ea typeface="Calibri" pitchFamily="34" charset="-122"/>
                <a:cs typeface="Calibri" pitchFamily="34" charset="-120"/>
              </a:rPr>
              <a:t>technology / AI, nurse education and corridor operations leaders. Discussions under way; no offers rolled out yet.</a:t>
            </a:r>
            <a:endParaRPr lang="en-US" sz="1050" dirty="0"/>
          </a:p>
        </p:txBody>
      </p:sp>
      <p:sp>
        <p:nvSpPr>
          <p:cNvPr id="63" name="Shape 58"/>
          <p:cNvSpPr/>
          <p:nvPr/>
        </p:nvSpPr>
        <p:spPr>
          <a:xfrm>
            <a:off x="420624" y="6428232"/>
            <a:ext cx="384048" cy="192024"/>
          </a:xfrm>
          <a:prstGeom prst="roundRect">
            <a:avLst>
              <a:gd name="adj" fmla="val 23810"/>
            </a:avLst>
          </a:prstGeom>
          <a:solidFill>
            <a:srgbClr val="FFFFFF"/>
          </a:solidFill>
          <a:ln w="12700">
            <a:solidFill>
              <a:srgbClr val="FFFFFF"/>
            </a:solidFill>
            <a:prstDash val="solid"/>
          </a:ln>
        </p:spPr>
      </p:sp>
      <p:pic>
        <p:nvPicPr>
          <p:cNvPr id="64" name="Image 3" descr="Triple Arrow Global logo">    </p:cNvPr>
          <p:cNvPicPr>
            <a:picLocks noChangeAspect="1"/>
          </p:cNvPicPr>
          <p:nvPr/>
        </p:nvPicPr>
        <p:blipFill>
          <a:blip r:embed="rId7"/>
          <a:stretch>
            <a:fillRect/>
          </a:stretch>
        </p:blipFill>
        <p:spPr>
          <a:xfrm>
            <a:off x="466344" y="6455664"/>
            <a:ext cx="292608" cy="137160"/>
          </a:xfrm>
          <a:prstGeom prst="rect">
            <a:avLst/>
          </a:prstGeom>
        </p:spPr>
      </p:pic>
      <p:sp>
        <p:nvSpPr>
          <p:cNvPr id="65" name="Text 59"/>
          <p:cNvSpPr txBox="1"/>
          <p:nvPr/>
        </p:nvSpPr>
        <p:spPr>
          <a:xfrm>
            <a:off x="868680" y="6455664"/>
            <a:ext cx="10424160" cy="164592"/>
          </a:xfrm>
          <a:prstGeom prst="rect">
            <a:avLst/>
          </a:prstGeom>
          <a:noFill/>
          <a:ln/>
        </p:spPr>
        <p:txBody>
          <a:bodyPr wrap="square" lIns="0" tIns="0" rIns="0" bIns="0" rtlCol="0" anchor="t"/>
          <a:lstStyle/>
          <a:p>
            <a:pPr indent="0" marL="0">
              <a:buNone/>
            </a:pPr>
            <a:r>
              <a:rPr lang="en-US" sz="800" dirty="0">
                <a:solidFill>
                  <a:srgbClr val="8496B3"/>
                </a:solidFill>
                <a:latin typeface="Calibri" pitchFamily="34" charset="0"/>
                <a:ea typeface="Calibri" pitchFamily="34" charset="-122"/>
                <a:cs typeface="Calibri" pitchFamily="34" charset="-120"/>
              </a:rPr>
              <a:t>Triple Arrow Global  |  Confidential   ·   As represented by management from founders’ résumés and profiles; not independently verified. ₹ converted at ₹95/$. Vaibhav’s 19 years include 3 as an intern.</a:t>
            </a:r>
            <a:endParaRPr lang="en-US" sz="800" dirty="0"/>
          </a:p>
        </p:txBody>
      </p:sp>
      <p:sp>
        <p:nvSpPr>
          <p:cNvPr id="66" name="Text 60"/>
          <p:cNvSpPr txBox="1"/>
          <p:nvPr/>
        </p:nvSpPr>
        <p:spPr>
          <a:xfrm>
            <a:off x="11338560" y="6455664"/>
            <a:ext cx="393192" cy="164592"/>
          </a:xfrm>
          <a:prstGeom prst="rect">
            <a:avLst/>
          </a:prstGeom>
          <a:noFill/>
          <a:ln/>
        </p:spPr>
        <p:txBody>
          <a:bodyPr wrap="square" lIns="0" tIns="0" rIns="0" bIns="0" rtlCol="0" anchor="t"/>
          <a:lstStyle/>
          <a:p>
            <a:pPr algn="r" indent="0" marL="0">
              <a:buNone/>
            </a:pPr>
            <a:r>
              <a:rPr lang="en-US" sz="800" dirty="0">
                <a:solidFill>
                  <a:srgbClr val="8496B3"/>
                </a:solidFill>
                <a:latin typeface="Calibri" pitchFamily="34" charset="0"/>
                <a:ea typeface="Calibri" pitchFamily="34" charset="-122"/>
                <a:cs typeface="Calibri"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Founding Team</dc:title>
  <dc:subject>PptxGenJS Presentation</dc:subject>
  <dc:creator>PptxGenJS</dc:creator>
  <cp:lastModifiedBy>PptxGenJS</cp:lastModifiedBy>
  <cp:revision>1</cp:revision>
  <dcterms:created xsi:type="dcterms:W3CDTF">2026-10-27T19:03:00Z</dcterms:created>
  <dcterms:modified xsi:type="dcterms:W3CDTF">2026-10-27T19:03:00Z</dcterms:modified>
</cp:coreProperties>
</file>