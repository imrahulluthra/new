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 roles and backgrounds as represented by management. Founder names link to their professional profiles.
Sutanu Dutta (19 years; ex-Truxapp, Rivigo, HT Media, Peel Works; 1x founder) and Rahul Luthra (9 years; ex-Swiggy; 2x founder) are full-time. Vaibhav Kedia joins full-time at close and is a Director at EY until then. Senior technology / AI, nurse-education and operations candidates are in discussion. No offers have been accepted.
Sources: each founder's résumé or professional profile, supplied by the founder. Not independently verified. Sutanu's rupee figures at ₹95/$: staffing revenue ₹20 Cr to ₹106 Cr ($2M to $11M, 5.3×); ₹150 Cr of contracted value ($16M); ₹240 Cr distribution P&amp;L ($25M). Vaibhav's 19 years at EY include 3 years as an intern; clients include Amazon, Airtel, ITC, Siemens, Intel, Epson and Happiest Minds. Rahul's 10,000+ onboarding and 98.6% serviceability are from his Swiggy role (2019–2023).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utanu-dutta-7a8890a/" TargetMode="External"/><Relationship Id="rId4" Type="http://schemas.openxmlformats.org/officeDocument/2006/relationships/hyperlink" Target="https://www.linkedin.com/in/vaibhavkedia/" TargetMode="External"/><Relationship Id="rId6" Type="http://schemas.openxmlformats.org/officeDocument/2006/relationships/hyperlink" Target="https://www.linkedin.com/in/rahulluthraaa/" TargetMode="External"/><Relationship Id="rId1" Type="http://schemas.openxmlformats.org/officeDocument/2006/relationships/image" Target="../media/image-1-1.jpeg"/><Relationship Id="rId3" Type="http://schemas.openxmlformats.org/officeDocument/2006/relationships/image" Target="../media/image-1-2.jpeg"/><Relationship Id="rId5" Type="http://schemas.openxmlformats.org/officeDocument/2006/relationships/image" Target="../media/image-1-3.jpeg"/><Relationship Id="rId7" Type="http://schemas.openxmlformats.org/officeDocument/2006/relationships/image" Target="../media/image-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EC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years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scale, financial rigor and 0→1 execution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operators who have each put 10,000+ workers to work, and a finance leader who rose from intern to Director at EY</a:t>
            </a:r>
            <a:endParaRPr lang="en-US" sz="1400" dirty="0"/>
          </a:p>
        </p:txBody>
      </p:sp>
      <p:sp>
        <p:nvSpPr>
          <p:cNvPr id="5" name="Sutanu Dutta card"/>
          <p:cNvSpPr/>
          <p:nvPr/>
        </p:nvSpPr>
        <p:spPr>
          <a:xfrm>
            <a:off x="457200" y="1691640"/>
            <a:ext cx="3639312" cy="4407408"/>
          </a:xfrm>
          <a:prstGeom prst="roundRect">
            <a:avLst>
              <a:gd name="adj" fmla="val 3015"/>
            </a:avLst>
          </a:prstGeom>
          <a:solidFill>
            <a:srgbClr val="13294B"/>
          </a:solidFill>
          <a:ln w="9525">
            <a:solidFill>
              <a:srgbClr val="1F3A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1005840" cy="1005840"/>
          </a:xfrm>
          <a:prstGeom prst="ellipse">
            <a:avLst/>
          </a:prstGeom>
          <a:solidFill>
            <a:srgbClr val="2EC4B0"/>
          </a:solidFill>
          <a:ln w="12700">
            <a:solidFill>
              <a:srgbClr val="2EC4B0"/>
            </a:solidFill>
            <a:prstDash val="solid"/>
          </a:ln>
        </p:spPr>
      </p:sp>
      <p:pic>
        <p:nvPicPr>
          <p:cNvPr id="7" name="Image 0" descr="Photo of Sutanu Dut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914400" cy="91440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9280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OPERATOR</a:t>
            </a:r>
            <a:endParaRPr lang="en-US" sz="900" dirty="0"/>
          </a:p>
        </p:txBody>
      </p:sp>
      <p:sp>
        <p:nvSpPr>
          <p:cNvPr id="9" name="Text 6">
            <a:hlinkClick r:id="rId2" tooltip=""/>
          </p:cNvPr>
          <p:cNvSpPr txBox="1"/>
          <p:nvPr/>
        </p:nvSpPr>
        <p:spPr>
          <a:xfrm>
            <a:off x="1828800" y="207568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Sutanu Dutta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42316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  ·  19 yrs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6243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MBA, IIM Raipur  ·  B.Com (Hons), SRCC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08152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EC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11,000+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538728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deployed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322576" y="308152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EC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5.3×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2322576" y="3538728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revenue, $2M → $11M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95935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12394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Truxapp · Rivigo · HT Media · Peel Works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4526280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$16M contracted value from Reliance &amp; ITC; ran a $25M distribution P&amp;L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founder: RG Medicare, opened Bangladesh &amp; Oman corridors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core team that closed a $2.4M seed from Elevar Equity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458968"/>
            <a:ext cx="116586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2EC4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1→100 Scaling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924812" y="545896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2EC4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Leadership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573328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2EC4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Ops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2130552" y="573328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2EC4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P&amp;L</a:t>
            </a:r>
            <a:endParaRPr lang="en-US" sz="950" dirty="0"/>
          </a:p>
        </p:txBody>
      </p:sp>
      <p:sp>
        <p:nvSpPr>
          <p:cNvPr id="23" name="Vaibhav Kedia card"/>
          <p:cNvSpPr/>
          <p:nvPr/>
        </p:nvSpPr>
        <p:spPr>
          <a:xfrm>
            <a:off x="4279392" y="1691640"/>
            <a:ext cx="3639312" cy="4407408"/>
          </a:xfrm>
          <a:prstGeom prst="roundRect">
            <a:avLst>
              <a:gd name="adj" fmla="val 3015"/>
            </a:avLst>
          </a:prstGeom>
          <a:solidFill>
            <a:srgbClr val="13294B"/>
          </a:solidFill>
          <a:ln w="9525">
            <a:solidFill>
              <a:srgbClr val="1F3A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62272" y="1874520"/>
            <a:ext cx="1005840" cy="100584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25" name="Image 1" descr="Photo of Vaibhav Ked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920240"/>
            <a:ext cx="914400" cy="914400"/>
          </a:xfrm>
          <a:prstGeom prst="ellipse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650992" y="189280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GUARDIAN</a:t>
            </a:r>
            <a:endParaRPr lang="en-US" sz="900" dirty="0"/>
          </a:p>
        </p:txBody>
      </p:sp>
      <p:sp>
        <p:nvSpPr>
          <p:cNvPr id="27" name="Text 23">
            <a:hlinkClick r:id="rId4" tooltip=""/>
          </p:cNvPr>
          <p:cNvSpPr txBox="1"/>
          <p:nvPr/>
        </p:nvSpPr>
        <p:spPr>
          <a:xfrm>
            <a:off x="5650992" y="207568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Vaibhav Kedia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5650992" y="242316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CFO  ·  19 yrs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650992" y="26243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(ICAI)  ·  B.Com (Hons), SRCC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507992" y="308152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yrs</a:t>
            </a:r>
            <a:endParaRPr lang="en-US" sz="2500" dirty="0"/>
          </a:p>
        </p:txBody>
      </p:sp>
      <p:sp>
        <p:nvSpPr>
          <p:cNvPr id="31" name="Text 27"/>
          <p:cNvSpPr txBox="1"/>
          <p:nvPr/>
        </p:nvSpPr>
        <p:spPr>
          <a:xfrm>
            <a:off x="4507992" y="3538728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EY, intern → Director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6144768" y="308152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</a:t>
            </a:r>
            <a:endParaRPr lang="en-US" sz="2500" dirty="0"/>
          </a:p>
        </p:txBody>
      </p:sp>
      <p:sp>
        <p:nvSpPr>
          <p:cNvPr id="33" name="Text 29"/>
          <p:cNvSpPr txBox="1"/>
          <p:nvPr/>
        </p:nvSpPr>
        <p:spPr>
          <a:xfrm>
            <a:off x="6144768" y="3538728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&amp; Sensex 30 audits led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4507992" y="395935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4507992" y="412394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· Airtel · ITC · Siemens · Intel · Epson · Happiest Minds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4507992" y="4526280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Big 4 audits of Fortune 500 &amp; listed companies; team of ~25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QIP; leads an IPO engagement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Steered global restructuring of an e-commerce MNC (IFRS, US GAAP, SOX)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4507992" y="5458968"/>
            <a:ext cx="130302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E07A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Audit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5884164" y="5458968"/>
            <a:ext cx="102870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E07A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Rigor</a:t>
            </a:r>
            <a:endParaRPr lang="en-US" sz="950" dirty="0"/>
          </a:p>
        </p:txBody>
      </p:sp>
      <p:sp>
        <p:nvSpPr>
          <p:cNvPr id="39" name="Text 35"/>
          <p:cNvSpPr txBox="1"/>
          <p:nvPr/>
        </p:nvSpPr>
        <p:spPr>
          <a:xfrm>
            <a:off x="4507992" y="5733288"/>
            <a:ext cx="171450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E07A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&amp; Capital Markets</a:t>
            </a:r>
            <a:endParaRPr lang="en-US" sz="950" dirty="0"/>
          </a:p>
        </p:txBody>
      </p:sp>
      <p:sp>
        <p:nvSpPr>
          <p:cNvPr id="40" name="Rahul Luthra card"/>
          <p:cNvSpPr/>
          <p:nvPr/>
        </p:nvSpPr>
        <p:spPr>
          <a:xfrm>
            <a:off x="8101584" y="1691640"/>
            <a:ext cx="3639312" cy="4407408"/>
          </a:xfrm>
          <a:prstGeom prst="roundRect">
            <a:avLst>
              <a:gd name="adj" fmla="val 3015"/>
            </a:avLst>
          </a:prstGeom>
          <a:solidFill>
            <a:srgbClr val="13294B"/>
          </a:solidFill>
          <a:ln w="9525">
            <a:solidFill>
              <a:srgbClr val="1F3A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8284464" y="1874520"/>
            <a:ext cx="1005840" cy="1005840"/>
          </a:xfrm>
          <a:prstGeom prst="ellipse">
            <a:avLst/>
          </a:prstGeom>
          <a:solidFill>
            <a:srgbClr val="6FB2F0"/>
          </a:solidFill>
          <a:ln w="12700">
            <a:solidFill>
              <a:srgbClr val="6FB2F0"/>
            </a:solidFill>
            <a:prstDash val="solid"/>
          </a:ln>
        </p:spPr>
      </p:sp>
      <p:pic>
        <p:nvPicPr>
          <p:cNvPr id="42" name="Image 2" descr="Photo of Rahul Luth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1920240"/>
            <a:ext cx="914400" cy="914400"/>
          </a:xfrm>
          <a:prstGeom prst="ellipse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473184" y="189280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0→1 BUILDER</a:t>
            </a:r>
            <a:endParaRPr lang="en-US" sz="900" dirty="0"/>
          </a:p>
        </p:txBody>
      </p:sp>
      <p:sp>
        <p:nvSpPr>
          <p:cNvPr id="44" name="Text 39">
            <a:hlinkClick r:id="rId6" tooltip=""/>
          </p:cNvPr>
          <p:cNvSpPr txBox="1"/>
          <p:nvPr/>
        </p:nvSpPr>
        <p:spPr>
          <a:xfrm>
            <a:off x="9473184" y="207568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Rahul Luthra</a:t>
            </a:r>
            <a:endParaRPr lang="en-US" sz="1900" dirty="0"/>
          </a:p>
        </p:txBody>
      </p:sp>
      <p:sp>
        <p:nvSpPr>
          <p:cNvPr id="45" name="Text 40"/>
          <p:cNvSpPr txBox="1"/>
          <p:nvPr/>
        </p:nvSpPr>
        <p:spPr>
          <a:xfrm>
            <a:off x="9473184" y="2423160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 ·  9 yrs  ·  2x Founder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9473184" y="26243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B.Com (Hons)  ·  CS coursework (ICSI)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8330184" y="308152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6FB2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2500" dirty="0"/>
          </a:p>
        </p:txBody>
      </p:sp>
      <p:sp>
        <p:nvSpPr>
          <p:cNvPr id="48" name="Text 43"/>
          <p:cNvSpPr txBox="1"/>
          <p:nvPr/>
        </p:nvSpPr>
        <p:spPr>
          <a:xfrm>
            <a:off x="8330184" y="3538728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workers onboarded at Swiggy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9966960" y="308152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6FB2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500" dirty="0"/>
          </a:p>
        </p:txBody>
      </p:sp>
      <p:sp>
        <p:nvSpPr>
          <p:cNvPr id="50" name="Text 45"/>
          <p:cNvSpPr txBox="1"/>
          <p:nvPr/>
        </p:nvSpPr>
        <p:spPr>
          <a:xfrm>
            <a:off x="9966960" y="3538728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launched for Swiggy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8330184" y="395935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</a:t>
            </a:r>
            <a:endParaRPr lang="en-US" sz="850" dirty="0"/>
          </a:p>
        </p:txBody>
      </p:sp>
      <p:sp>
        <p:nvSpPr>
          <p:cNvPr id="52" name="Text 47"/>
          <p:cNvSpPr txBox="1"/>
          <p:nvPr/>
        </p:nvSpPr>
        <p:spPr>
          <a:xfrm>
            <a:off x="8330184" y="412394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· Mitr.work (Founder) · Abacus</a:t>
            </a:r>
            <a:endParaRPr lang="en-US" sz="1150" dirty="0"/>
          </a:p>
        </p:txBody>
      </p:sp>
      <p:sp>
        <p:nvSpPr>
          <p:cNvPr id="53" name="Text 48"/>
          <p:cNvSpPr txBox="1"/>
          <p:nvPr/>
        </p:nvSpPr>
        <p:spPr>
          <a:xfrm>
            <a:off x="8330184" y="4526280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two businesses from zero as a 2x founder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Mitr.work: 400+ delivery partners a month for Swiggy, Zomato &amp; Zepto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North India staffing at Abacus from scratch to 200+ on payroll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8330184" y="5458968"/>
            <a:ext cx="102870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6FB2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 Enabler</a:t>
            </a:r>
            <a:endParaRPr lang="en-US" sz="950" dirty="0"/>
          </a:p>
        </p:txBody>
      </p:sp>
      <p:sp>
        <p:nvSpPr>
          <p:cNvPr id="55" name="Text 50"/>
          <p:cNvSpPr txBox="1"/>
          <p:nvPr/>
        </p:nvSpPr>
        <p:spPr>
          <a:xfrm>
            <a:off x="9432036" y="5458968"/>
            <a:ext cx="48006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6FB2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950" dirty="0"/>
          </a:p>
        </p:txBody>
      </p:sp>
      <p:sp>
        <p:nvSpPr>
          <p:cNvPr id="56" name="Text 51"/>
          <p:cNvSpPr txBox="1"/>
          <p:nvPr/>
        </p:nvSpPr>
        <p:spPr>
          <a:xfrm>
            <a:off x="9985248" y="5458968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1C3A63"/>
          </a:solidFill>
          <a:ln w="9525">
            <a:solidFill>
              <a:srgbClr val="6FB2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Launch</a:t>
            </a:r>
            <a:endParaRPr lang="en-US" sz="950" dirty="0"/>
          </a:p>
        </p:txBody>
      </p:sp>
      <p:sp>
        <p:nvSpPr>
          <p:cNvPr id="57" name="Text 52"/>
          <p:cNvSpPr txBox="1"/>
          <p:nvPr/>
        </p:nvSpPr>
        <p:spPr>
          <a:xfrm>
            <a:off x="457200" y="62179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priorities at close: </a:t>
            </a:r>
            <a:pPr indent="0" marL="0">
              <a:buNone/>
            </a:pPr>
            <a:r>
              <a:rPr lang="en-US" sz="1050" dirty="0">
                <a:solidFill>
                  <a:srgbClr val="B9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AI, nurse education and corridor operations. Discussions under way; no offers rolled out yet.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420624" y="6428232"/>
            <a:ext cx="384048" cy="192024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9" name="Image 3" descr="Triple Arrow Global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" y="6455664"/>
            <a:ext cx="292608" cy="137160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868680" y="645566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Arrow Global  |  Confidential   ·   As represented by management from founders’ résumés and profiles; not independently verified. ₹ converted at ₹95/$. Vaibhav’s 19 years include 3 as an intern.</a:t>
            </a:r>
            <a:endParaRPr lang="en-US" sz="800" dirty="0"/>
          </a:p>
        </p:txBody>
      </p:sp>
      <p:sp>
        <p:nvSpPr>
          <p:cNvPr id="61" name="Text 55"/>
          <p:cNvSpPr txBox="1"/>
          <p:nvPr/>
        </p:nvSpPr>
        <p:spPr>
          <a:xfrm>
            <a:off x="11338560" y="645566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4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Founding Team</dc:title>
  <dc:subject>PptxGenJS Presentation</dc:subject>
  <dc:creator>PptxGenJS</dc:creator>
  <cp:lastModifiedBy>PptxGenJS</cp:lastModifiedBy>
  <cp:revision>1</cp:revision>
  <dcterms:created xsi:type="dcterms:W3CDTF">2026-10-27T18:23:49Z</dcterms:created>
  <dcterms:modified xsi:type="dcterms:W3CDTF">2026-10-27T18:23:49Z</dcterms:modified>
</cp:coreProperties>
</file>